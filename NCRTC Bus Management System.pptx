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9" r:id="rId3"/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 (g3e5a7743417_76_0)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 1">
  <p:cSld name="Slide 9 master (g3e5a7743417_68_0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 1">
  <p:cSld name="Slide 8 master (g3e5a7743417_60_0)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 1">
  <p:cSld name="Slide 7 master (g3e5a7743417_52_0)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 1">
  <p:cSld name="Slide 6 master (g3e5a7743417_44_0)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 1">
  <p:cSld name="Slide 4 master (g3e5a7743417_36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 1">
  <p:cSld name="Slide 3 master (g3e5a7743417_28_0)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 1">
  <p:cSld name="Slide 2 master (g3e5a7743417_20_0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 1">
  <p:cSld name="Slide 1 master (g3e5a7743417_8_0)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4"/>
          <p:cNvSpPr/>
          <p:nvPr/>
        </p:nvSpPr>
        <p:spPr>
          <a:xfrm>
            <a:off x="3925119" y="1691357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NCRTC Bus Management System</a:t>
            </a:r>
            <a:endParaRPr b="0" i="0" sz="2750" u="none" cap="none" strike="noStrike"/>
          </a:p>
        </p:txBody>
      </p:sp>
      <p:sp>
        <p:nvSpPr>
          <p:cNvPr id="111" name="Google Shape;111;p34"/>
          <p:cNvSpPr/>
          <p:nvPr/>
        </p:nvSpPr>
        <p:spPr>
          <a:xfrm>
            <a:off x="3925119" y="2789932"/>
            <a:ext cx="5180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Fleet Management Platform for NCR Transport Corporation</a:t>
            </a:r>
            <a:endParaRPr b="0" i="0" sz="1100" u="none" cap="none" strike="noStrike"/>
          </a:p>
        </p:txBody>
      </p:sp>
      <p:sp>
        <p:nvSpPr>
          <p:cNvPr id="112" name="Google Shape;112;p34"/>
          <p:cNvSpPr/>
          <p:nvPr/>
        </p:nvSpPr>
        <p:spPr>
          <a:xfrm>
            <a:off x="3925119" y="3180978"/>
            <a:ext cx="1424100" cy="266400"/>
          </a:xfrm>
          <a:prstGeom prst="roundRect">
            <a:avLst>
              <a:gd fmla="val 6386" name="adj"/>
            </a:avLst>
          </a:prstGeom>
          <a:solidFill>
            <a:srgbClr val="3720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4"/>
          <p:cNvSpPr/>
          <p:nvPr/>
        </p:nvSpPr>
        <p:spPr>
          <a:xfrm>
            <a:off x="4010174" y="3223468"/>
            <a:ext cx="1711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FLEET MANAGEMENT</a:t>
            </a:r>
            <a:endParaRPr b="0" i="0" sz="850" u="none" cap="none" strike="noStrike"/>
          </a:p>
        </p:txBody>
      </p:sp>
      <p:sp>
        <p:nvSpPr>
          <p:cNvPr id="114" name="Google Shape;114;p34"/>
          <p:cNvSpPr/>
          <p:nvPr/>
        </p:nvSpPr>
        <p:spPr>
          <a:xfrm>
            <a:off x="5420023" y="3176215"/>
            <a:ext cx="1554900" cy="276000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E2C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4"/>
          <p:cNvSpPr/>
          <p:nvPr/>
        </p:nvSpPr>
        <p:spPr>
          <a:xfrm>
            <a:off x="5509840" y="3223468"/>
            <a:ext cx="18324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2C2B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2C2B3"/>
                </a:solidFill>
                <a:latin typeface="Arial"/>
                <a:ea typeface="Arial"/>
                <a:cs typeface="Arial"/>
                <a:sym typeface="Arial"/>
              </a:rPr>
              <a:t>FULL-STACK PLATFORM</a:t>
            </a:r>
            <a:endParaRPr b="0" i="0" sz="850" u="none" cap="none" strike="noStrike"/>
          </a:p>
        </p:txBody>
      </p:sp>
      <p:sp>
        <p:nvSpPr>
          <p:cNvPr id="116" name="Google Shape;116;p34"/>
          <p:cNvSpPr/>
          <p:nvPr/>
        </p:nvSpPr>
        <p:spPr>
          <a:xfrm>
            <a:off x="7045672" y="3176215"/>
            <a:ext cx="1334700" cy="276000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E2C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4"/>
          <p:cNvSpPr/>
          <p:nvPr/>
        </p:nvSpPr>
        <p:spPr>
          <a:xfrm>
            <a:off x="7135490" y="3223468"/>
            <a:ext cx="16125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2C2B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2C2B3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5"/>
          <p:cNvSpPr/>
          <p:nvPr/>
        </p:nvSpPr>
        <p:spPr>
          <a:xfrm>
            <a:off x="496119" y="660722"/>
            <a:ext cx="6702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Problem Statement &amp; Our Solution</a:t>
            </a:r>
            <a:endParaRPr b="0" i="0" sz="2750" u="none" cap="none" strike="noStrike"/>
          </a:p>
        </p:txBody>
      </p:sp>
      <p:sp>
        <p:nvSpPr>
          <p:cNvPr id="126" name="Google Shape;126;p35"/>
          <p:cNvSpPr/>
          <p:nvPr/>
        </p:nvSpPr>
        <p:spPr>
          <a:xfrm>
            <a:off x="394022" y="1316310"/>
            <a:ext cx="4107000" cy="3166500"/>
          </a:xfrm>
          <a:prstGeom prst="roundRect">
            <a:avLst>
              <a:gd fmla="val 672" name="adj"/>
            </a:avLst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5"/>
          <p:cNvSpPr/>
          <p:nvPr/>
        </p:nvSpPr>
        <p:spPr>
          <a:xfrm>
            <a:off x="535781" y="1458069"/>
            <a:ext cx="222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350" u="none" cap="none" strike="noStrike"/>
          </a:p>
        </p:txBody>
      </p:sp>
      <p:sp>
        <p:nvSpPr>
          <p:cNvPr id="128" name="Google Shape;128;p35"/>
          <p:cNvSpPr/>
          <p:nvPr/>
        </p:nvSpPr>
        <p:spPr>
          <a:xfrm>
            <a:off x="535781" y="1821284"/>
            <a:ext cx="38235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Hundreds of feeder buses across Delhi-NCR with no centralized visibility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Paper-based duty assignments causing delays and errors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Incident reporting via phone calls — no audit trail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No real-time operational dashboard for controllers</a:t>
            </a:r>
            <a:endParaRPr b="0" i="0" sz="1100" u="none" cap="none" strike="noStrike"/>
          </a:p>
        </p:txBody>
      </p:sp>
      <p:sp>
        <p:nvSpPr>
          <p:cNvPr id="129" name="Google Shape;129;p35"/>
          <p:cNvSpPr/>
          <p:nvPr/>
        </p:nvSpPr>
        <p:spPr>
          <a:xfrm>
            <a:off x="4749701" y="1458069"/>
            <a:ext cx="222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1350" u="none" cap="none" strike="noStrike"/>
          </a:p>
        </p:txBody>
      </p:sp>
      <p:sp>
        <p:nvSpPr>
          <p:cNvPr id="130" name="Google Shape;130;p35"/>
          <p:cNvSpPr/>
          <p:nvPr/>
        </p:nvSpPr>
        <p:spPr>
          <a:xfrm>
            <a:off x="4749701" y="1821284"/>
            <a:ext cx="3903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 full-stack Bus Management System delivering four integrated modules:</a:t>
            </a:r>
            <a:endParaRPr b="0" i="0" sz="1100" u="none" cap="none" strike="noStrike"/>
          </a:p>
        </p:txBody>
      </p:sp>
      <p:sp>
        <p:nvSpPr>
          <p:cNvPr id="131" name="Google Shape;131;p35"/>
          <p:cNvSpPr/>
          <p:nvPr/>
        </p:nvSpPr>
        <p:spPr>
          <a:xfrm>
            <a:off x="4749701" y="2434382"/>
            <a:ext cx="1880700" cy="873600"/>
          </a:xfrm>
          <a:prstGeom prst="roundRect">
            <a:avLst>
              <a:gd fmla="val 2434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5"/>
          <p:cNvSpPr/>
          <p:nvPr/>
        </p:nvSpPr>
        <p:spPr>
          <a:xfrm>
            <a:off x="4891460" y="2576140"/>
            <a:ext cx="1597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AVLS</a:t>
            </a:r>
            <a:endParaRPr b="0" i="0" sz="1350" u="none" cap="none" strike="noStrike"/>
          </a:p>
        </p:txBody>
      </p:sp>
      <p:sp>
        <p:nvSpPr>
          <p:cNvPr id="133" name="Google Shape;133;p35"/>
          <p:cNvSpPr/>
          <p:nvPr/>
        </p:nvSpPr>
        <p:spPr>
          <a:xfrm>
            <a:off x="4891460" y="2939355"/>
            <a:ext cx="159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Live vehicle tracking</a:t>
            </a:r>
            <a:endParaRPr b="0" i="0" sz="1100" u="none" cap="none" strike="noStrike"/>
          </a:p>
        </p:txBody>
      </p:sp>
      <p:sp>
        <p:nvSpPr>
          <p:cNvPr id="134" name="Google Shape;134;p35"/>
          <p:cNvSpPr/>
          <p:nvPr/>
        </p:nvSpPr>
        <p:spPr>
          <a:xfrm>
            <a:off x="6772052" y="2434382"/>
            <a:ext cx="1880700" cy="873600"/>
          </a:xfrm>
          <a:prstGeom prst="roundRect">
            <a:avLst>
              <a:gd fmla="val 2434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5"/>
          <p:cNvSpPr/>
          <p:nvPr/>
        </p:nvSpPr>
        <p:spPr>
          <a:xfrm>
            <a:off x="6913811" y="2576140"/>
            <a:ext cx="1597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Scheduling</a:t>
            </a:r>
            <a:endParaRPr b="0" i="0" sz="1350" u="none" cap="none" strike="noStrike"/>
          </a:p>
        </p:txBody>
      </p:sp>
      <p:sp>
        <p:nvSpPr>
          <p:cNvPr id="136" name="Google Shape;136;p35"/>
          <p:cNvSpPr/>
          <p:nvPr/>
        </p:nvSpPr>
        <p:spPr>
          <a:xfrm>
            <a:off x="6913811" y="2939355"/>
            <a:ext cx="159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Duty management</a:t>
            </a:r>
            <a:endParaRPr b="0" i="0" sz="1100" u="none" cap="none" strike="noStrike"/>
          </a:p>
        </p:txBody>
      </p:sp>
      <p:sp>
        <p:nvSpPr>
          <p:cNvPr id="137" name="Google Shape;137;p35"/>
          <p:cNvSpPr/>
          <p:nvPr/>
        </p:nvSpPr>
        <p:spPr>
          <a:xfrm>
            <a:off x="4749701" y="3449687"/>
            <a:ext cx="1880700" cy="873600"/>
          </a:xfrm>
          <a:prstGeom prst="roundRect">
            <a:avLst>
              <a:gd fmla="val 2434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5"/>
          <p:cNvSpPr/>
          <p:nvPr/>
        </p:nvSpPr>
        <p:spPr>
          <a:xfrm>
            <a:off x="4891460" y="3591446"/>
            <a:ext cx="1597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IMS</a:t>
            </a:r>
            <a:endParaRPr b="0" i="0" sz="1350" u="none" cap="none" strike="noStrike"/>
          </a:p>
        </p:txBody>
      </p:sp>
      <p:sp>
        <p:nvSpPr>
          <p:cNvPr id="139" name="Google Shape;139;p35"/>
          <p:cNvSpPr/>
          <p:nvPr/>
        </p:nvSpPr>
        <p:spPr>
          <a:xfrm>
            <a:off x="4891460" y="3954661"/>
            <a:ext cx="159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Incident response</a:t>
            </a:r>
            <a:endParaRPr b="0" i="0" sz="1100" u="none" cap="none" strike="noStrike"/>
          </a:p>
        </p:txBody>
      </p:sp>
      <p:sp>
        <p:nvSpPr>
          <p:cNvPr id="140" name="Google Shape;140;p35"/>
          <p:cNvSpPr/>
          <p:nvPr/>
        </p:nvSpPr>
        <p:spPr>
          <a:xfrm>
            <a:off x="6772052" y="3449687"/>
            <a:ext cx="1880700" cy="873600"/>
          </a:xfrm>
          <a:prstGeom prst="roundRect">
            <a:avLst>
              <a:gd fmla="val 2434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5"/>
          <p:cNvSpPr/>
          <p:nvPr/>
        </p:nvSpPr>
        <p:spPr>
          <a:xfrm>
            <a:off x="6913811" y="3591446"/>
            <a:ext cx="1597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CMS</a:t>
            </a:r>
            <a:endParaRPr b="0" i="0" sz="1350" u="none" cap="none" strike="noStrike"/>
          </a:p>
        </p:txBody>
      </p:sp>
      <p:sp>
        <p:nvSpPr>
          <p:cNvPr id="142" name="Google Shape;142;p35"/>
          <p:cNvSpPr/>
          <p:nvPr/>
        </p:nvSpPr>
        <p:spPr>
          <a:xfrm>
            <a:off x="6913811" y="3954661"/>
            <a:ext cx="159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 communication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6"/>
          <p:cNvSpPr/>
          <p:nvPr/>
        </p:nvSpPr>
        <p:spPr>
          <a:xfrm>
            <a:off x="1515145" y="290885"/>
            <a:ext cx="2740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1700" u="none" cap="none" strike="noStrike"/>
          </a:p>
        </p:txBody>
      </p:sp>
      <p:pic>
        <p:nvPicPr>
          <p:cNvPr descr="preencoded.png" id="151" name="Google Shape;1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145" y="678507"/>
            <a:ext cx="6113712" cy="279789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6"/>
          <p:cNvSpPr/>
          <p:nvPr/>
        </p:nvSpPr>
        <p:spPr>
          <a:xfrm>
            <a:off x="5993455" y="973956"/>
            <a:ext cx="14907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Database &amp; Telemetry</a:t>
            </a:r>
            <a:endParaRPr b="0" i="0" sz="1050" u="none" cap="none" strike="noStrike"/>
          </a:p>
        </p:txBody>
      </p:sp>
      <p:sp>
        <p:nvSpPr>
          <p:cNvPr id="153" name="Google Shape;153;p36"/>
          <p:cNvSpPr/>
          <p:nvPr/>
        </p:nvSpPr>
        <p:spPr>
          <a:xfrm>
            <a:off x="5993455" y="1360143"/>
            <a:ext cx="14907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PostgreSQL + PostGIS with GPS tick simulator</a:t>
            </a:r>
            <a:endParaRPr b="0" i="0" sz="850" u="none" cap="none" strike="noStrike"/>
          </a:p>
        </p:txBody>
      </p:sp>
      <p:sp>
        <p:nvSpPr>
          <p:cNvPr id="154" name="Google Shape;154;p36"/>
          <p:cNvSpPr/>
          <p:nvPr/>
        </p:nvSpPr>
        <p:spPr>
          <a:xfrm>
            <a:off x="1677771" y="1978119"/>
            <a:ext cx="1352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050" u="none" cap="none" strike="noStrike"/>
          </a:p>
        </p:txBody>
      </p:sp>
      <p:sp>
        <p:nvSpPr>
          <p:cNvPr id="155" name="Google Shape;155;p36"/>
          <p:cNvSpPr/>
          <p:nvPr/>
        </p:nvSpPr>
        <p:spPr>
          <a:xfrm>
            <a:off x="1659739" y="2195255"/>
            <a:ext cx="13704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FastAPI handling WebSocket and APIs</a:t>
            </a:r>
            <a:endParaRPr b="0" i="0" sz="850" u="none" cap="none" strike="noStrike"/>
          </a:p>
        </p:txBody>
      </p:sp>
      <p:sp>
        <p:nvSpPr>
          <p:cNvPr id="156" name="Google Shape;156;p36"/>
          <p:cNvSpPr/>
          <p:nvPr/>
        </p:nvSpPr>
        <p:spPr>
          <a:xfrm>
            <a:off x="5993455" y="2452964"/>
            <a:ext cx="1352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050" u="none" cap="none" strike="noStrike"/>
          </a:p>
        </p:txBody>
      </p:sp>
      <p:sp>
        <p:nvSpPr>
          <p:cNvPr id="157" name="Google Shape;157;p36"/>
          <p:cNvSpPr/>
          <p:nvPr/>
        </p:nvSpPr>
        <p:spPr>
          <a:xfrm>
            <a:off x="5993455" y="2670101"/>
            <a:ext cx="14907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React + Vite SPA and Driver PWA</a:t>
            </a:r>
            <a:endParaRPr b="0" i="0" sz="850" u="none" cap="none" strike="noStrike"/>
          </a:p>
        </p:txBody>
      </p:sp>
      <p:sp>
        <p:nvSpPr>
          <p:cNvPr id="158" name="Google Shape;158;p36"/>
          <p:cNvSpPr/>
          <p:nvPr/>
        </p:nvSpPr>
        <p:spPr>
          <a:xfrm>
            <a:off x="1515145" y="3538686"/>
            <a:ext cx="6113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 unified monolithic architecture ensures faster delivery, a shared database, and real-time vehicle tracking — all deployed as a single unit for operational simplicity.</a:t>
            </a:r>
            <a:endParaRPr b="0" i="0" sz="650" u="none" cap="none" strike="noStrike"/>
          </a:p>
        </p:txBody>
      </p:sp>
      <p:pic>
        <p:nvPicPr>
          <p:cNvPr descr="preencoded.png" id="159" name="Google Shape;15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5620" y="3831357"/>
            <a:ext cx="3038697" cy="482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6"/>
          <p:cNvSpPr/>
          <p:nvPr/>
        </p:nvSpPr>
        <p:spPr>
          <a:xfrm>
            <a:off x="1641797" y="3929435"/>
            <a:ext cx="11076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850" u="none" cap="none" strike="noStrike"/>
          </a:p>
        </p:txBody>
      </p:sp>
      <p:sp>
        <p:nvSpPr>
          <p:cNvPr id="161" name="Google Shape;161;p36"/>
          <p:cNvSpPr/>
          <p:nvPr/>
        </p:nvSpPr>
        <p:spPr>
          <a:xfrm>
            <a:off x="1641797" y="4101033"/>
            <a:ext cx="28044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React + Vite SPA with a shared Driver PWA codebase</a:t>
            </a:r>
            <a:endParaRPr b="0" i="0" sz="650" u="none" cap="none" strike="noStrike"/>
          </a:p>
        </p:txBody>
      </p:sp>
      <p:pic>
        <p:nvPicPr>
          <p:cNvPr descr="preencoded.png" id="162" name="Google Shape;1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157" y="3831357"/>
            <a:ext cx="3038697" cy="482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6"/>
          <p:cNvSpPr/>
          <p:nvPr/>
        </p:nvSpPr>
        <p:spPr>
          <a:xfrm>
            <a:off x="4726335" y="3929435"/>
            <a:ext cx="11076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850" u="none" cap="none" strike="noStrike"/>
          </a:p>
        </p:txBody>
      </p:sp>
      <p:sp>
        <p:nvSpPr>
          <p:cNvPr id="164" name="Google Shape;164;p36"/>
          <p:cNvSpPr/>
          <p:nvPr/>
        </p:nvSpPr>
        <p:spPr>
          <a:xfrm>
            <a:off x="4726335" y="4101033"/>
            <a:ext cx="28044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FastAPI REST API with WebSocket + polling fallback</a:t>
            </a:r>
            <a:endParaRPr b="0" i="0" sz="650" u="none" cap="none" strike="noStrike"/>
          </a:p>
        </p:txBody>
      </p:sp>
      <p:pic>
        <p:nvPicPr>
          <p:cNvPr descr="preencoded.png" id="165" name="Google Shape;16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5620" y="4369668"/>
            <a:ext cx="3038697" cy="482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6"/>
          <p:cNvSpPr/>
          <p:nvPr/>
        </p:nvSpPr>
        <p:spPr>
          <a:xfrm>
            <a:off x="1641797" y="4467746"/>
            <a:ext cx="11076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850" u="none" cap="none" strike="noStrike"/>
          </a:p>
        </p:txBody>
      </p:sp>
      <p:sp>
        <p:nvSpPr>
          <p:cNvPr id="167" name="Google Shape;167;p36"/>
          <p:cNvSpPr/>
          <p:nvPr/>
        </p:nvSpPr>
        <p:spPr>
          <a:xfrm>
            <a:off x="1641797" y="4639345"/>
            <a:ext cx="28044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PostgreSQL + PostGIS for spatial GPS data</a:t>
            </a:r>
            <a:endParaRPr b="0" i="0" sz="650" u="none" cap="none" strike="noStrike"/>
          </a:p>
        </p:txBody>
      </p:sp>
      <p:pic>
        <p:nvPicPr>
          <p:cNvPr descr="preencoded.png" id="168" name="Google Shape;16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157" y="4369668"/>
            <a:ext cx="3038697" cy="482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6"/>
          <p:cNvSpPr/>
          <p:nvPr/>
        </p:nvSpPr>
        <p:spPr>
          <a:xfrm>
            <a:off x="4726335" y="4467746"/>
            <a:ext cx="11076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Simulator</a:t>
            </a:r>
            <a:endParaRPr b="0" i="0" sz="850" u="none" cap="none" strike="noStrike"/>
          </a:p>
        </p:txBody>
      </p:sp>
      <p:sp>
        <p:nvSpPr>
          <p:cNvPr id="170" name="Google Shape;170;p36"/>
          <p:cNvSpPr/>
          <p:nvPr/>
        </p:nvSpPr>
        <p:spPr>
          <a:xfrm>
            <a:off x="4726335" y="4639345"/>
            <a:ext cx="28044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GPS Tick Script generating live vehicle pings</a:t>
            </a:r>
            <a:endParaRPr b="0" i="0" sz="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7"/>
          <p:cNvSpPr/>
          <p:nvPr/>
        </p:nvSpPr>
        <p:spPr>
          <a:xfrm>
            <a:off x="1056605" y="294754"/>
            <a:ext cx="3333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Data Model &amp; Security</a:t>
            </a:r>
            <a:endParaRPr b="0" i="0" sz="2000" u="none" cap="none" strike="noStrike"/>
          </a:p>
        </p:txBody>
      </p:sp>
      <p:sp>
        <p:nvSpPr>
          <p:cNvPr id="179" name="Google Shape;179;p37"/>
          <p:cNvSpPr/>
          <p:nvPr/>
        </p:nvSpPr>
        <p:spPr>
          <a:xfrm>
            <a:off x="1056605" y="796156"/>
            <a:ext cx="19146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Core Database Entities</a:t>
            </a:r>
            <a:endParaRPr b="0" i="0" sz="1000" u="none" cap="none" strike="noStrike"/>
          </a:p>
        </p:txBody>
      </p:sp>
      <p:sp>
        <p:nvSpPr>
          <p:cNvPr id="180" name="Google Shape;180;p37"/>
          <p:cNvSpPr/>
          <p:nvPr/>
        </p:nvSpPr>
        <p:spPr>
          <a:xfrm>
            <a:off x="1056605" y="1037779"/>
            <a:ext cx="2037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/>
          </a:p>
        </p:txBody>
      </p:sp>
      <p:sp>
        <p:nvSpPr>
          <p:cNvPr id="181" name="Google Shape;181;p37"/>
          <p:cNvSpPr/>
          <p:nvPr/>
        </p:nvSpPr>
        <p:spPr>
          <a:xfrm>
            <a:off x="1056605" y="1196578"/>
            <a:ext cx="3390900" cy="144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7"/>
          <p:cNvSpPr/>
          <p:nvPr/>
        </p:nvSpPr>
        <p:spPr>
          <a:xfrm>
            <a:off x="1056605" y="1276052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Depot &amp; Vehicle</a:t>
            </a:r>
            <a:endParaRPr b="0" i="0" sz="1000" u="none" cap="none" strike="noStrike"/>
          </a:p>
        </p:txBody>
      </p:sp>
      <p:sp>
        <p:nvSpPr>
          <p:cNvPr id="183" name="Google Shape;183;p37"/>
          <p:cNvSpPr/>
          <p:nvPr/>
        </p:nvSpPr>
        <p:spPr>
          <a:xfrm>
            <a:off x="1056605" y="1508522"/>
            <a:ext cx="3390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Fleet inventory and depot hierarchy</a:t>
            </a:r>
            <a:endParaRPr b="0" i="0" sz="800" u="none" cap="none" strike="noStrike"/>
          </a:p>
        </p:txBody>
      </p:sp>
      <p:sp>
        <p:nvSpPr>
          <p:cNvPr id="184" name="Google Shape;184;p37"/>
          <p:cNvSpPr/>
          <p:nvPr/>
        </p:nvSpPr>
        <p:spPr>
          <a:xfrm>
            <a:off x="1056605" y="1798141"/>
            <a:ext cx="2037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/>
          </a:p>
        </p:txBody>
      </p:sp>
      <p:sp>
        <p:nvSpPr>
          <p:cNvPr id="185" name="Google Shape;185;p37"/>
          <p:cNvSpPr/>
          <p:nvPr/>
        </p:nvSpPr>
        <p:spPr>
          <a:xfrm>
            <a:off x="1056605" y="1956941"/>
            <a:ext cx="3390900" cy="144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7"/>
          <p:cNvSpPr/>
          <p:nvPr/>
        </p:nvSpPr>
        <p:spPr>
          <a:xfrm>
            <a:off x="1056605" y="2036415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GPS Ping</a:t>
            </a:r>
            <a:endParaRPr b="0" i="0" sz="1000" u="none" cap="none" strike="noStrike"/>
          </a:p>
        </p:txBody>
      </p:sp>
      <p:sp>
        <p:nvSpPr>
          <p:cNvPr id="187" name="Google Shape;187;p37"/>
          <p:cNvSpPr/>
          <p:nvPr/>
        </p:nvSpPr>
        <p:spPr>
          <a:xfrm>
            <a:off x="1056605" y="2268885"/>
            <a:ext cx="3390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Timestamped location records with PostGIS</a:t>
            </a:r>
            <a:endParaRPr b="0" i="0" sz="800" u="none" cap="none" strike="noStrike"/>
          </a:p>
        </p:txBody>
      </p:sp>
      <p:sp>
        <p:nvSpPr>
          <p:cNvPr id="188" name="Google Shape;188;p37"/>
          <p:cNvSpPr/>
          <p:nvPr/>
        </p:nvSpPr>
        <p:spPr>
          <a:xfrm>
            <a:off x="1056605" y="2558504"/>
            <a:ext cx="2037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/>
          </a:p>
        </p:txBody>
      </p:sp>
      <p:sp>
        <p:nvSpPr>
          <p:cNvPr id="189" name="Google Shape;189;p37"/>
          <p:cNvSpPr/>
          <p:nvPr/>
        </p:nvSpPr>
        <p:spPr>
          <a:xfrm>
            <a:off x="1056605" y="2717304"/>
            <a:ext cx="3390900" cy="144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7"/>
          <p:cNvSpPr/>
          <p:nvPr/>
        </p:nvSpPr>
        <p:spPr>
          <a:xfrm>
            <a:off x="1056605" y="2796778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User &amp; Duty</a:t>
            </a:r>
            <a:endParaRPr b="0" i="0" sz="1000" u="none" cap="none" strike="noStrike"/>
          </a:p>
        </p:txBody>
      </p:sp>
      <p:sp>
        <p:nvSpPr>
          <p:cNvPr id="191" name="Google Shape;191;p37"/>
          <p:cNvSpPr/>
          <p:nvPr/>
        </p:nvSpPr>
        <p:spPr>
          <a:xfrm>
            <a:off x="1056605" y="3029248"/>
            <a:ext cx="3390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 profiles, roles, and roster assignments</a:t>
            </a:r>
            <a:endParaRPr b="0" i="0" sz="800" u="none" cap="none" strike="noStrike"/>
          </a:p>
        </p:txBody>
      </p:sp>
      <p:sp>
        <p:nvSpPr>
          <p:cNvPr id="192" name="Google Shape;192;p37"/>
          <p:cNvSpPr/>
          <p:nvPr/>
        </p:nvSpPr>
        <p:spPr>
          <a:xfrm>
            <a:off x="1056605" y="3318867"/>
            <a:ext cx="2037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/>
          </a:p>
        </p:txBody>
      </p:sp>
      <p:sp>
        <p:nvSpPr>
          <p:cNvPr id="193" name="Google Shape;193;p37"/>
          <p:cNvSpPr/>
          <p:nvPr/>
        </p:nvSpPr>
        <p:spPr>
          <a:xfrm>
            <a:off x="1056605" y="3477667"/>
            <a:ext cx="3390900" cy="144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7"/>
          <p:cNvSpPr/>
          <p:nvPr/>
        </p:nvSpPr>
        <p:spPr>
          <a:xfrm>
            <a:off x="1056605" y="3557141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Incident &amp; Event</a:t>
            </a:r>
            <a:endParaRPr b="0" i="0" sz="1000" u="none" cap="none" strike="noStrike"/>
          </a:p>
        </p:txBody>
      </p:sp>
      <p:sp>
        <p:nvSpPr>
          <p:cNvPr id="195" name="Google Shape;195;p37"/>
          <p:cNvSpPr/>
          <p:nvPr/>
        </p:nvSpPr>
        <p:spPr>
          <a:xfrm>
            <a:off x="1056605" y="3789611"/>
            <a:ext cx="3390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Full lifecycle audit trail</a:t>
            </a:r>
            <a:endParaRPr b="0" i="0" sz="800" u="none" cap="none" strike="noStrike"/>
          </a:p>
        </p:txBody>
      </p:sp>
      <p:sp>
        <p:nvSpPr>
          <p:cNvPr id="196" name="Google Shape;196;p37"/>
          <p:cNvSpPr/>
          <p:nvPr/>
        </p:nvSpPr>
        <p:spPr>
          <a:xfrm>
            <a:off x="1056605" y="4079230"/>
            <a:ext cx="2037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/>
          </a:p>
        </p:txBody>
      </p:sp>
      <p:sp>
        <p:nvSpPr>
          <p:cNvPr id="197" name="Google Shape;197;p37"/>
          <p:cNvSpPr/>
          <p:nvPr/>
        </p:nvSpPr>
        <p:spPr>
          <a:xfrm>
            <a:off x="1056605" y="4238030"/>
            <a:ext cx="3390900" cy="144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1056605" y="4317504"/>
            <a:ext cx="142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Notice &amp; Read Receipt</a:t>
            </a:r>
            <a:endParaRPr b="0" i="0" sz="1000" u="none" cap="none" strike="noStrike"/>
          </a:p>
        </p:txBody>
      </p:sp>
      <p:sp>
        <p:nvSpPr>
          <p:cNvPr id="199" name="Google Shape;199;p37"/>
          <p:cNvSpPr/>
          <p:nvPr/>
        </p:nvSpPr>
        <p:spPr>
          <a:xfrm>
            <a:off x="1056605" y="4549973"/>
            <a:ext cx="3390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Targeted communication tracking</a:t>
            </a:r>
            <a:endParaRPr b="0" i="0" sz="800" u="none" cap="none" strike="noStrike"/>
          </a:p>
        </p:txBody>
      </p:sp>
      <p:sp>
        <p:nvSpPr>
          <p:cNvPr id="200" name="Google Shape;200;p37"/>
          <p:cNvSpPr/>
          <p:nvPr/>
        </p:nvSpPr>
        <p:spPr>
          <a:xfrm>
            <a:off x="4700960" y="796156"/>
            <a:ext cx="18486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Security Architecture</a:t>
            </a:r>
            <a:endParaRPr b="0" i="0" sz="1000" u="none" cap="none" strike="noStrike"/>
          </a:p>
        </p:txBody>
      </p:sp>
      <p:pic>
        <p:nvPicPr>
          <p:cNvPr descr="preencoded.png" id="201" name="Google Shape;2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672" y="1037779"/>
            <a:ext cx="1673200" cy="7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/>
          <p:nvPr/>
        </p:nvSpPr>
        <p:spPr>
          <a:xfrm>
            <a:off x="4859982" y="1153939"/>
            <a:ext cx="12894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JWT Authentication</a:t>
            </a:r>
            <a:endParaRPr b="0" i="0" sz="1000" u="none" cap="none" strike="noStrike"/>
          </a:p>
        </p:txBody>
      </p:sp>
      <p:sp>
        <p:nvSpPr>
          <p:cNvPr id="203" name="Google Shape;203;p37"/>
          <p:cNvSpPr/>
          <p:nvPr/>
        </p:nvSpPr>
        <p:spPr>
          <a:xfrm>
            <a:off x="4859982" y="1386408"/>
            <a:ext cx="13836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Stateless token-based sessions</a:t>
            </a:r>
            <a:endParaRPr b="0" i="0" sz="800" u="none" cap="none" strike="noStrike"/>
          </a:p>
        </p:txBody>
      </p:sp>
      <p:pic>
        <p:nvPicPr>
          <p:cNvPr descr="preencoded.png"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8808" y="1037779"/>
            <a:ext cx="1673200" cy="7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6592119" y="1153939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bcrypt Hashing</a:t>
            </a:r>
            <a:endParaRPr b="0" i="0" sz="1000" u="none" cap="none" strike="noStrike"/>
          </a:p>
        </p:txBody>
      </p:sp>
      <p:sp>
        <p:nvSpPr>
          <p:cNvPr id="206" name="Google Shape;206;p37"/>
          <p:cNvSpPr/>
          <p:nvPr/>
        </p:nvSpPr>
        <p:spPr>
          <a:xfrm>
            <a:off x="6592119" y="1386408"/>
            <a:ext cx="13836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Secure password storage</a:t>
            </a:r>
            <a:endParaRPr b="0" i="0" sz="800" u="none" cap="none" strike="noStrike"/>
          </a:p>
        </p:txBody>
      </p:sp>
      <p:pic>
        <p:nvPicPr>
          <p:cNvPr descr="preencoded.png" id="207" name="Google Shape;2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672" y="1855887"/>
            <a:ext cx="1673200" cy="7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/>
          <p:nvPr/>
        </p:nvSpPr>
        <p:spPr>
          <a:xfrm>
            <a:off x="4859982" y="1972047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5 User Roles</a:t>
            </a:r>
            <a:endParaRPr b="0" i="0" sz="1000" u="none" cap="none" strike="noStrike"/>
          </a:p>
        </p:txBody>
      </p:sp>
      <p:sp>
        <p:nvSpPr>
          <p:cNvPr id="209" name="Google Shape;209;p37"/>
          <p:cNvSpPr/>
          <p:nvPr/>
        </p:nvSpPr>
        <p:spPr>
          <a:xfrm>
            <a:off x="4859982" y="2204517"/>
            <a:ext cx="13836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Granular depot-level access control</a:t>
            </a:r>
            <a:endParaRPr b="0" i="0" sz="800" u="none" cap="none" strike="noStrike"/>
          </a:p>
        </p:txBody>
      </p:sp>
      <p:pic>
        <p:nvPicPr>
          <p:cNvPr descr="preencoded.png" id="210" name="Google Shape;2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8808" y="1855887"/>
            <a:ext cx="1673200" cy="7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7"/>
          <p:cNvSpPr/>
          <p:nvPr/>
        </p:nvSpPr>
        <p:spPr>
          <a:xfrm>
            <a:off x="6592119" y="1972047"/>
            <a:ext cx="12738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Service-layer Auth</a:t>
            </a:r>
            <a:endParaRPr b="0" i="0" sz="1000" u="none" cap="none" strike="noStrike"/>
          </a:p>
        </p:txBody>
      </p:sp>
      <p:sp>
        <p:nvSpPr>
          <p:cNvPr id="212" name="Google Shape;212;p37"/>
          <p:cNvSpPr/>
          <p:nvPr/>
        </p:nvSpPr>
        <p:spPr>
          <a:xfrm>
            <a:off x="6592119" y="2204517"/>
            <a:ext cx="13836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Authorization enforced at business logic level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8"/>
          <p:cNvSpPr/>
          <p:nvPr/>
        </p:nvSpPr>
        <p:spPr>
          <a:xfrm>
            <a:off x="434132" y="554162"/>
            <a:ext cx="4846737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Module 1 — AVLS: Live Tracking</a:t>
            </a:r>
            <a:endParaRPr b="0" i="0" sz="2400" u="none" cap="none" strike="noStrike"/>
          </a:p>
        </p:txBody>
      </p:sp>
      <p:sp>
        <p:nvSpPr>
          <p:cNvPr id="220" name="Google Shape;220;p38"/>
          <p:cNvSpPr/>
          <p:nvPr/>
        </p:nvSpPr>
        <p:spPr>
          <a:xfrm>
            <a:off x="434132" y="1492002"/>
            <a:ext cx="4846737" cy="692944"/>
          </a:xfrm>
          <a:prstGeom prst="roundRect">
            <a:avLst>
              <a:gd fmla="val 2685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8"/>
          <p:cNvSpPr/>
          <p:nvPr/>
        </p:nvSpPr>
        <p:spPr>
          <a:xfrm>
            <a:off x="558105" y="1615976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Real-Time Map</a:t>
            </a:r>
            <a:endParaRPr b="0" i="0" sz="1200" u="none" cap="none" strike="noStrike"/>
          </a:p>
        </p:txBody>
      </p:sp>
      <p:sp>
        <p:nvSpPr>
          <p:cNvPr id="222" name="Google Shape;222;p38"/>
          <p:cNvSpPr/>
          <p:nvPr/>
        </p:nvSpPr>
        <p:spPr>
          <a:xfrm>
            <a:off x="558105" y="1874937"/>
            <a:ext cx="459878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Moving bus markers with route trail visualization and vehicle detail panels</a:t>
            </a:r>
            <a:endParaRPr b="0" i="0" sz="950" u="none" cap="none" strike="noStrike"/>
          </a:p>
        </p:txBody>
      </p:sp>
      <p:sp>
        <p:nvSpPr>
          <p:cNvPr id="223" name="Google Shape;223;p38"/>
          <p:cNvSpPr/>
          <p:nvPr/>
        </p:nvSpPr>
        <p:spPr>
          <a:xfrm>
            <a:off x="434132" y="2293441"/>
            <a:ext cx="4846737" cy="692944"/>
          </a:xfrm>
          <a:prstGeom prst="roundRect">
            <a:avLst>
              <a:gd fmla="val 2685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8"/>
          <p:cNvSpPr/>
          <p:nvPr/>
        </p:nvSpPr>
        <p:spPr>
          <a:xfrm>
            <a:off x="558105" y="2417415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Historical Playback</a:t>
            </a:r>
            <a:endParaRPr b="0" i="0" sz="1200" u="none" cap="none" strike="noStrike"/>
          </a:p>
        </p:txBody>
      </p:sp>
      <p:sp>
        <p:nvSpPr>
          <p:cNvPr id="225" name="Google Shape;225;p38"/>
          <p:cNvSpPr/>
          <p:nvPr/>
        </p:nvSpPr>
        <p:spPr>
          <a:xfrm>
            <a:off x="558105" y="2676376"/>
            <a:ext cx="459878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Replay past trips with timestamped GPS ping data</a:t>
            </a:r>
            <a:endParaRPr b="0" i="0" sz="950" u="none" cap="none" strike="noStrike"/>
          </a:p>
        </p:txBody>
      </p:sp>
      <p:sp>
        <p:nvSpPr>
          <p:cNvPr id="226" name="Google Shape;226;p38"/>
          <p:cNvSpPr/>
          <p:nvPr/>
        </p:nvSpPr>
        <p:spPr>
          <a:xfrm>
            <a:off x="434132" y="3094881"/>
            <a:ext cx="4846737" cy="692944"/>
          </a:xfrm>
          <a:prstGeom prst="roundRect">
            <a:avLst>
              <a:gd fmla="val 2685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58105" y="3218855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Optimized Queries</a:t>
            </a:r>
            <a:endParaRPr b="0" i="0" sz="1200" u="none" cap="none" strike="noStrike"/>
          </a:p>
        </p:txBody>
      </p:sp>
      <p:sp>
        <p:nvSpPr>
          <p:cNvPr id="228" name="Google Shape;228;p38"/>
          <p:cNvSpPr/>
          <p:nvPr/>
        </p:nvSpPr>
        <p:spPr>
          <a:xfrm>
            <a:off x="558105" y="3477816"/>
            <a:ext cx="459878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Composite PostGIS indexes on GPS data for sub-second lookups</a:t>
            </a:r>
            <a:endParaRPr b="0" i="0" sz="950" u="none" cap="none" strike="noStrike"/>
          </a:p>
        </p:txBody>
      </p:sp>
      <p:sp>
        <p:nvSpPr>
          <p:cNvPr id="229" name="Google Shape;229;p38"/>
          <p:cNvSpPr/>
          <p:nvPr/>
        </p:nvSpPr>
        <p:spPr>
          <a:xfrm>
            <a:off x="434132" y="3896320"/>
            <a:ext cx="4846737" cy="692944"/>
          </a:xfrm>
          <a:prstGeom prst="roundRect">
            <a:avLst>
              <a:gd fmla="val 2685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/>
          <p:nvPr/>
        </p:nvSpPr>
        <p:spPr>
          <a:xfrm>
            <a:off x="558105" y="4020294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Resilient Delivery</a:t>
            </a:r>
            <a:endParaRPr b="0" i="0" sz="1200" u="none" cap="none" strike="noStrike"/>
          </a:p>
        </p:txBody>
      </p:sp>
      <p:sp>
        <p:nvSpPr>
          <p:cNvPr id="231" name="Google Shape;231;p38"/>
          <p:cNvSpPr/>
          <p:nvPr/>
        </p:nvSpPr>
        <p:spPr>
          <a:xfrm>
            <a:off x="558105" y="4279255"/>
            <a:ext cx="459878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WebSocket updates with automatic polling fallback for unreliable networks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/>
          <p:nvPr/>
        </p:nvSpPr>
        <p:spPr>
          <a:xfrm>
            <a:off x="1362298" y="280615"/>
            <a:ext cx="5682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Module 2 — Scheduling &amp; Duty Management</a:t>
            </a:r>
            <a:endParaRPr b="0" i="0" sz="1800" u="none" cap="none" strike="noStrike"/>
          </a:p>
        </p:txBody>
      </p:sp>
      <p:pic>
        <p:nvPicPr>
          <p:cNvPr descr="preencoded.png" id="240" name="Google Shape;2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298" y="731565"/>
            <a:ext cx="4093148" cy="23194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/>
          <p:nvPr/>
        </p:nvSpPr>
        <p:spPr>
          <a:xfrm>
            <a:off x="5687169" y="1332012"/>
            <a:ext cx="16200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Roster Workflow</a:t>
            </a:r>
            <a:endParaRPr b="0" i="0" sz="900" u="none" cap="none" strike="noStrike"/>
          </a:p>
        </p:txBody>
      </p:sp>
      <p:sp>
        <p:nvSpPr>
          <p:cNvPr id="242" name="Google Shape;242;p39"/>
          <p:cNvSpPr/>
          <p:nvPr/>
        </p:nvSpPr>
        <p:spPr>
          <a:xfrm>
            <a:off x="5687169" y="1501750"/>
            <a:ext cx="16200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b="0" i="0" sz="900" u="none" cap="none" strike="noStrike"/>
          </a:p>
        </p:txBody>
      </p:sp>
      <p:sp>
        <p:nvSpPr>
          <p:cNvPr id="243" name="Google Shape;243;p39"/>
          <p:cNvSpPr/>
          <p:nvPr/>
        </p:nvSpPr>
        <p:spPr>
          <a:xfrm>
            <a:off x="5687169" y="1708100"/>
            <a:ext cx="20991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Color-coded roster grid for quick visual scanning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Assignment management with conflict detection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 self-service dashboard for duty acknowledgement</a:t>
            </a:r>
            <a:endParaRPr b="0" i="0" sz="700" u="none" cap="none" strike="noStrike"/>
          </a:p>
        </p:txBody>
      </p:sp>
      <p:pic>
        <p:nvPicPr>
          <p:cNvPr descr="preencoded.png" id="244" name="Google Shape;24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298" y="3188345"/>
            <a:ext cx="465162" cy="5581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9"/>
          <p:cNvSpPr/>
          <p:nvPr/>
        </p:nvSpPr>
        <p:spPr>
          <a:xfrm>
            <a:off x="1888480" y="3281363"/>
            <a:ext cx="11628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b="0" i="0" sz="900" u="none" cap="none" strike="noStrike"/>
          </a:p>
        </p:txBody>
      </p:sp>
      <p:sp>
        <p:nvSpPr>
          <p:cNvPr id="246" name="Google Shape;246;p39"/>
          <p:cNvSpPr/>
          <p:nvPr/>
        </p:nvSpPr>
        <p:spPr>
          <a:xfrm>
            <a:off x="1888480" y="3463305"/>
            <a:ext cx="589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Planner builds weekly roster grid</a:t>
            </a:r>
            <a:endParaRPr b="0" i="0" sz="700" u="none" cap="none" strike="noStrike"/>
          </a:p>
        </p:txBody>
      </p:sp>
      <p:pic>
        <p:nvPicPr>
          <p:cNvPr descr="preencoded.png" id="247" name="Google Shape;24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298" y="3746525"/>
            <a:ext cx="465162" cy="5581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9"/>
          <p:cNvSpPr/>
          <p:nvPr/>
        </p:nvSpPr>
        <p:spPr>
          <a:xfrm>
            <a:off x="1888480" y="3839542"/>
            <a:ext cx="11628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Published</a:t>
            </a:r>
            <a:endParaRPr b="0" i="0" sz="900" u="none" cap="none" strike="noStrike"/>
          </a:p>
        </p:txBody>
      </p:sp>
      <p:sp>
        <p:nvSpPr>
          <p:cNvPr id="249" name="Google Shape;249;p39"/>
          <p:cNvSpPr/>
          <p:nvPr/>
        </p:nvSpPr>
        <p:spPr>
          <a:xfrm>
            <a:off x="1888480" y="4021485"/>
            <a:ext cx="589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Roster released to all drivers</a:t>
            </a:r>
            <a:endParaRPr b="0" i="0" sz="700" u="none" cap="none" strike="noStrike"/>
          </a:p>
        </p:txBody>
      </p:sp>
      <p:pic>
        <p:nvPicPr>
          <p:cNvPr descr="preencoded.png" id="250" name="Google Shape;25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298" y="4304705"/>
            <a:ext cx="465162" cy="5581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/>
          <p:nvPr/>
        </p:nvSpPr>
        <p:spPr>
          <a:xfrm>
            <a:off x="1888480" y="4397722"/>
            <a:ext cx="11628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Acknowledged</a:t>
            </a:r>
            <a:endParaRPr b="0" i="0" sz="900" u="none" cap="none" strike="noStrike"/>
          </a:p>
        </p:txBody>
      </p:sp>
      <p:sp>
        <p:nvSpPr>
          <p:cNvPr id="252" name="Google Shape;252;p39"/>
          <p:cNvSpPr/>
          <p:nvPr/>
        </p:nvSpPr>
        <p:spPr>
          <a:xfrm>
            <a:off x="1888480" y="4579665"/>
            <a:ext cx="589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Drivers confirm via self-service portal</a:t>
            </a:r>
            <a:endParaRPr b="0" i="0" sz="7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0"/>
          <p:cNvSpPr/>
          <p:nvPr/>
        </p:nvSpPr>
        <p:spPr>
          <a:xfrm>
            <a:off x="1285875" y="323031"/>
            <a:ext cx="5313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Module 3 — Incident Management (IMS)</a:t>
            </a:r>
            <a:endParaRPr b="0" i="0" sz="1850" u="none" cap="none" strike="noStrike"/>
          </a:p>
        </p:txBody>
      </p:sp>
      <p:sp>
        <p:nvSpPr>
          <p:cNvPr id="261" name="Google Shape;261;p40"/>
          <p:cNvSpPr/>
          <p:nvPr/>
        </p:nvSpPr>
        <p:spPr>
          <a:xfrm>
            <a:off x="1285875" y="780678"/>
            <a:ext cx="18570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Incident State Machine</a:t>
            </a:r>
            <a:endParaRPr b="0" i="0" sz="900" u="none" cap="none" strike="noStrike"/>
          </a:p>
        </p:txBody>
      </p:sp>
      <p:pic>
        <p:nvPicPr>
          <p:cNvPr descr="preencoded.png" id="262" name="Google Shape;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1001464"/>
            <a:ext cx="3169964" cy="3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/>
          <p:nvPr/>
        </p:nvSpPr>
        <p:spPr>
          <a:xfrm>
            <a:off x="4692923" y="2093714"/>
            <a:ext cx="164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SLA Targets</a:t>
            </a:r>
            <a:endParaRPr b="0" i="0" sz="900" u="none" cap="none" strike="noStrike"/>
          </a:p>
        </p:txBody>
      </p:sp>
      <p:sp>
        <p:nvSpPr>
          <p:cNvPr id="264" name="Google Shape;264;p40"/>
          <p:cNvSpPr/>
          <p:nvPr/>
        </p:nvSpPr>
        <p:spPr>
          <a:xfrm>
            <a:off x="4692923" y="2268141"/>
            <a:ext cx="164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Core Capabilities</a:t>
            </a:r>
            <a:endParaRPr b="0" i="0" sz="900" u="none" cap="none" strike="noStrike"/>
          </a:p>
        </p:txBody>
      </p:sp>
      <p:sp>
        <p:nvSpPr>
          <p:cNvPr id="265" name="Google Shape;265;p40"/>
          <p:cNvSpPr/>
          <p:nvPr/>
        </p:nvSpPr>
        <p:spPr>
          <a:xfrm>
            <a:off x="4692923" y="2480965"/>
            <a:ext cx="3170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Char char="•"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 panic button for instant alerts</a:t>
            </a:r>
            <a:endParaRPr b="0" i="0" sz="750" u="none" cap="none" strike="noStrike"/>
          </a:p>
          <a:p>
            <a:pPr indent="-342900" lvl="0" marL="3429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Char char="•"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Full audit timeline with event log</a:t>
            </a:r>
            <a:endParaRPr b="0" i="0" sz="750" u="none" cap="none" strike="noStrike"/>
          </a:p>
          <a:p>
            <a:pPr indent="-342900" lvl="0" marL="3429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Char char="•"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SLA monitoring with breach alerts</a:t>
            </a:r>
            <a:endParaRPr b="0" i="0" sz="750" u="none" cap="none" strike="noStrike"/>
          </a:p>
        </p:txBody>
      </p:sp>
      <p:sp>
        <p:nvSpPr>
          <p:cNvPr id="266" name="Google Shape;266;p40"/>
          <p:cNvSpPr/>
          <p:nvPr/>
        </p:nvSpPr>
        <p:spPr>
          <a:xfrm>
            <a:off x="1285875" y="4315346"/>
            <a:ext cx="2148000" cy="505200"/>
          </a:xfrm>
          <a:prstGeom prst="roundRect">
            <a:avLst>
              <a:gd fmla="val 2829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0"/>
          <p:cNvSpPr/>
          <p:nvPr/>
        </p:nvSpPr>
        <p:spPr>
          <a:xfrm>
            <a:off x="1381125" y="4410596"/>
            <a:ext cx="1190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P1 Critical</a:t>
            </a:r>
            <a:endParaRPr b="0" i="0" sz="900" u="none" cap="none" strike="noStrike"/>
          </a:p>
        </p:txBody>
      </p:sp>
      <p:sp>
        <p:nvSpPr>
          <p:cNvPr id="268" name="Google Shape;268;p40"/>
          <p:cNvSpPr/>
          <p:nvPr/>
        </p:nvSpPr>
        <p:spPr>
          <a:xfrm>
            <a:off x="1381125" y="4597822"/>
            <a:ext cx="19575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60 min response</a:t>
            </a:r>
            <a:endParaRPr b="0" i="0" sz="750" u="none" cap="none" strike="noStrike"/>
          </a:p>
        </p:txBody>
      </p:sp>
      <p:sp>
        <p:nvSpPr>
          <p:cNvPr id="269" name="Google Shape;269;p40"/>
          <p:cNvSpPr/>
          <p:nvPr/>
        </p:nvSpPr>
        <p:spPr>
          <a:xfrm>
            <a:off x="3497907" y="4315346"/>
            <a:ext cx="2148000" cy="505200"/>
          </a:xfrm>
          <a:prstGeom prst="roundRect">
            <a:avLst>
              <a:gd fmla="val 2829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0"/>
          <p:cNvSpPr/>
          <p:nvPr/>
        </p:nvSpPr>
        <p:spPr>
          <a:xfrm>
            <a:off x="3593157" y="4410596"/>
            <a:ext cx="1190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P2 High</a:t>
            </a:r>
            <a:endParaRPr b="0" i="0" sz="900" u="none" cap="none" strike="noStrike"/>
          </a:p>
        </p:txBody>
      </p:sp>
      <p:sp>
        <p:nvSpPr>
          <p:cNvPr id="271" name="Google Shape;271;p40"/>
          <p:cNvSpPr/>
          <p:nvPr/>
        </p:nvSpPr>
        <p:spPr>
          <a:xfrm>
            <a:off x="3593157" y="4597822"/>
            <a:ext cx="19575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4 hr response</a:t>
            </a:r>
            <a:endParaRPr b="0" i="0" sz="750" u="none" cap="none" strike="noStrike"/>
          </a:p>
        </p:txBody>
      </p:sp>
      <p:sp>
        <p:nvSpPr>
          <p:cNvPr id="272" name="Google Shape;272;p40"/>
          <p:cNvSpPr/>
          <p:nvPr/>
        </p:nvSpPr>
        <p:spPr>
          <a:xfrm>
            <a:off x="5710014" y="4315346"/>
            <a:ext cx="2148000" cy="505200"/>
          </a:xfrm>
          <a:prstGeom prst="roundRect">
            <a:avLst>
              <a:gd fmla="val 2829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0"/>
          <p:cNvSpPr/>
          <p:nvPr/>
        </p:nvSpPr>
        <p:spPr>
          <a:xfrm>
            <a:off x="5805264" y="4410596"/>
            <a:ext cx="1190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P3 Standard</a:t>
            </a:r>
            <a:endParaRPr b="0" i="0" sz="900" u="none" cap="none" strike="noStrike"/>
          </a:p>
        </p:txBody>
      </p:sp>
      <p:sp>
        <p:nvSpPr>
          <p:cNvPr id="274" name="Google Shape;274;p40"/>
          <p:cNvSpPr/>
          <p:nvPr/>
        </p:nvSpPr>
        <p:spPr>
          <a:xfrm>
            <a:off x="5805264" y="4597822"/>
            <a:ext cx="19575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24 hr response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1"/>
          <p:cNvSpPr/>
          <p:nvPr/>
        </p:nvSpPr>
        <p:spPr>
          <a:xfrm>
            <a:off x="488379" y="438150"/>
            <a:ext cx="5144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Module 4 — CMS &amp; Testing</a:t>
            </a:r>
            <a:endParaRPr b="0" i="0" sz="2700" u="none" cap="none" strike="noStrike"/>
          </a:p>
        </p:txBody>
      </p:sp>
      <p:sp>
        <p:nvSpPr>
          <p:cNvPr id="283" name="Google Shape;283;p41"/>
          <p:cNvSpPr/>
          <p:nvPr/>
        </p:nvSpPr>
        <p:spPr>
          <a:xfrm>
            <a:off x="488379" y="1217637"/>
            <a:ext cx="30366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Content Management System</a:t>
            </a:r>
            <a:endParaRPr b="0" i="0" sz="1350" u="none" cap="none" strike="noStrike"/>
          </a:p>
        </p:txBody>
      </p:sp>
      <p:sp>
        <p:nvSpPr>
          <p:cNvPr id="284" name="Google Shape;284;p41"/>
          <p:cNvSpPr/>
          <p:nvPr/>
        </p:nvSpPr>
        <p:spPr>
          <a:xfrm>
            <a:off x="488379" y="1573039"/>
            <a:ext cx="3913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Targeted notices with read receipt tracking ensure critical messages reach the right personnel.</a:t>
            </a:r>
            <a:endParaRPr b="0" i="0" sz="1050" u="none" cap="none" strike="noStrike"/>
          </a:p>
        </p:txBody>
      </p:sp>
      <p:sp>
        <p:nvSpPr>
          <p:cNvPr id="285" name="Google Shape;285;p41"/>
          <p:cNvSpPr/>
          <p:nvPr/>
        </p:nvSpPr>
        <p:spPr>
          <a:xfrm>
            <a:off x="4746947" y="1217637"/>
            <a:ext cx="23052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Testing &amp; CI Pipeline</a:t>
            </a:r>
            <a:endParaRPr b="0" i="0" sz="1350" u="none" cap="none" strike="noStrike"/>
          </a:p>
        </p:txBody>
      </p:sp>
      <p:sp>
        <p:nvSpPr>
          <p:cNvPr id="286" name="Google Shape;286;p41"/>
          <p:cNvSpPr/>
          <p:nvPr/>
        </p:nvSpPr>
        <p:spPr>
          <a:xfrm>
            <a:off x="4746947" y="1590154"/>
            <a:ext cx="314100" cy="314100"/>
          </a:xfrm>
          <a:prstGeom prst="roundRect">
            <a:avLst>
              <a:gd fmla="val 6668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1"/>
          <p:cNvSpPr/>
          <p:nvPr/>
        </p:nvSpPr>
        <p:spPr>
          <a:xfrm>
            <a:off x="5198269" y="1638077"/>
            <a:ext cx="18270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~70 Automated Tests</a:t>
            </a:r>
            <a:endParaRPr b="0" i="0" sz="1350" u="none" cap="none" strike="noStrike"/>
          </a:p>
        </p:txBody>
      </p:sp>
      <p:sp>
        <p:nvSpPr>
          <p:cNvPr id="288" name="Google Shape;288;p41"/>
          <p:cNvSpPr/>
          <p:nvPr/>
        </p:nvSpPr>
        <p:spPr>
          <a:xfrm>
            <a:off x="5198269" y="1993478"/>
            <a:ext cx="3462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Covering auth, AVLS, scheduling, incident lifecycle, and security</a:t>
            </a:r>
            <a:endParaRPr b="0" i="0" sz="1050" u="none" cap="none" strike="noStrike"/>
          </a:p>
        </p:txBody>
      </p:sp>
      <p:sp>
        <p:nvSpPr>
          <p:cNvPr id="289" name="Google Shape;289;p41"/>
          <p:cNvSpPr/>
          <p:nvPr/>
        </p:nvSpPr>
        <p:spPr>
          <a:xfrm>
            <a:off x="4746947" y="2711128"/>
            <a:ext cx="314100" cy="314100"/>
          </a:xfrm>
          <a:prstGeom prst="roundRect">
            <a:avLst>
              <a:gd fmla="val 6668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1"/>
          <p:cNvSpPr/>
          <p:nvPr/>
        </p:nvSpPr>
        <p:spPr>
          <a:xfrm>
            <a:off x="5198269" y="2759050"/>
            <a:ext cx="17442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GitHub Actions CI</a:t>
            </a:r>
            <a:endParaRPr b="0" i="0" sz="1350" u="none" cap="none" strike="noStrike"/>
          </a:p>
        </p:txBody>
      </p:sp>
      <p:sp>
        <p:nvSpPr>
          <p:cNvPr id="291" name="Google Shape;291;p41"/>
          <p:cNvSpPr/>
          <p:nvPr/>
        </p:nvSpPr>
        <p:spPr>
          <a:xfrm>
            <a:off x="5198269" y="3114452"/>
            <a:ext cx="3462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Automated pipeline on every commit and pull request</a:t>
            </a:r>
            <a:endParaRPr b="0" i="0" sz="1050" u="none" cap="none" strike="noStrike"/>
          </a:p>
        </p:txBody>
      </p:sp>
      <p:sp>
        <p:nvSpPr>
          <p:cNvPr id="292" name="Google Shape;292;p41"/>
          <p:cNvSpPr/>
          <p:nvPr/>
        </p:nvSpPr>
        <p:spPr>
          <a:xfrm>
            <a:off x="488379" y="3866331"/>
            <a:ext cx="2630700" cy="839100"/>
          </a:xfrm>
          <a:prstGeom prst="roundRect">
            <a:avLst>
              <a:gd fmla="val 2495" name="adj"/>
            </a:avLst>
          </a:prstGeom>
          <a:solidFill>
            <a:srgbClr val="403234"/>
          </a:solidFill>
          <a:ln cap="flat" cmpd="sng" w="19050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>
            <a:off x="646956" y="4024908"/>
            <a:ext cx="17442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All Users</a:t>
            </a:r>
            <a:endParaRPr b="0" i="0" sz="1350" u="none" cap="none" strike="noStrike"/>
          </a:p>
        </p:txBody>
      </p:sp>
      <p:sp>
        <p:nvSpPr>
          <p:cNvPr id="294" name="Google Shape;294;p41"/>
          <p:cNvSpPr/>
          <p:nvPr/>
        </p:nvSpPr>
        <p:spPr>
          <a:xfrm>
            <a:off x="646956" y="4325317"/>
            <a:ext cx="2313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Fleet-wide announcements</a:t>
            </a:r>
            <a:endParaRPr b="0" i="0" sz="1050" u="none" cap="none" strike="noStrike"/>
          </a:p>
        </p:txBody>
      </p:sp>
      <p:sp>
        <p:nvSpPr>
          <p:cNvPr id="295" name="Google Shape;295;p41"/>
          <p:cNvSpPr/>
          <p:nvPr/>
        </p:nvSpPr>
        <p:spPr>
          <a:xfrm>
            <a:off x="3256583" y="3866331"/>
            <a:ext cx="2630700" cy="839100"/>
          </a:xfrm>
          <a:prstGeom prst="roundRect">
            <a:avLst>
              <a:gd fmla="val 2495" name="adj"/>
            </a:avLst>
          </a:prstGeom>
          <a:solidFill>
            <a:srgbClr val="403234"/>
          </a:solidFill>
          <a:ln cap="flat" cmpd="sng" w="19050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1"/>
          <p:cNvSpPr/>
          <p:nvPr/>
        </p:nvSpPr>
        <p:spPr>
          <a:xfrm>
            <a:off x="3415159" y="4024908"/>
            <a:ext cx="17442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By Depot</a:t>
            </a:r>
            <a:endParaRPr b="0" i="0" sz="1350" u="none" cap="none" strike="noStrike"/>
          </a:p>
        </p:txBody>
      </p:sp>
      <p:sp>
        <p:nvSpPr>
          <p:cNvPr id="297" name="Google Shape;297;p41"/>
          <p:cNvSpPr/>
          <p:nvPr/>
        </p:nvSpPr>
        <p:spPr>
          <a:xfrm>
            <a:off x="3415159" y="4325317"/>
            <a:ext cx="2313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Location-specific alerts</a:t>
            </a:r>
            <a:endParaRPr b="0" i="0" sz="1050" u="none" cap="none" strike="noStrike"/>
          </a:p>
        </p:txBody>
      </p:sp>
      <p:sp>
        <p:nvSpPr>
          <p:cNvPr id="298" name="Google Shape;298;p41"/>
          <p:cNvSpPr/>
          <p:nvPr/>
        </p:nvSpPr>
        <p:spPr>
          <a:xfrm>
            <a:off x="6024786" y="3866331"/>
            <a:ext cx="2630700" cy="839100"/>
          </a:xfrm>
          <a:prstGeom prst="roundRect">
            <a:avLst>
              <a:gd fmla="val 2495" name="adj"/>
            </a:avLst>
          </a:prstGeom>
          <a:solidFill>
            <a:srgbClr val="403234"/>
          </a:solidFill>
          <a:ln cap="flat" cmpd="sng" w="19050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>
            <a:off x="6183362" y="4024908"/>
            <a:ext cx="17442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By Role</a:t>
            </a:r>
            <a:endParaRPr b="0" i="0" sz="1350" u="none" cap="none" strike="noStrike"/>
          </a:p>
        </p:txBody>
      </p:sp>
      <p:sp>
        <p:nvSpPr>
          <p:cNvPr id="300" name="Google Shape;300;p41"/>
          <p:cNvSpPr/>
          <p:nvPr/>
        </p:nvSpPr>
        <p:spPr>
          <a:xfrm>
            <a:off x="6183362" y="4325317"/>
            <a:ext cx="2313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Role-targeted notices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2"/>
          <p:cNvSpPr/>
          <p:nvPr/>
        </p:nvSpPr>
        <p:spPr>
          <a:xfrm>
            <a:off x="496119" y="496193"/>
            <a:ext cx="5465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Key Architectural Decisions</a:t>
            </a:r>
            <a:endParaRPr b="0" i="0" sz="2750" u="none" cap="none" strike="noStrike"/>
          </a:p>
        </p:txBody>
      </p:sp>
      <p:sp>
        <p:nvSpPr>
          <p:cNvPr id="309" name="Google Shape;309;p42"/>
          <p:cNvSpPr/>
          <p:nvPr/>
        </p:nvSpPr>
        <p:spPr>
          <a:xfrm>
            <a:off x="496119" y="1222697"/>
            <a:ext cx="8151900" cy="2448300"/>
          </a:xfrm>
          <a:prstGeom prst="roundRect">
            <a:avLst>
              <a:gd fmla="val 869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2"/>
          <p:cNvSpPr/>
          <p:nvPr/>
        </p:nvSpPr>
        <p:spPr>
          <a:xfrm>
            <a:off x="500881" y="1227460"/>
            <a:ext cx="8142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"/>
          <p:cNvSpPr/>
          <p:nvPr/>
        </p:nvSpPr>
        <p:spPr>
          <a:xfrm>
            <a:off x="642714" y="1317278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100" u="none" cap="none" strike="noStrike"/>
          </a:p>
        </p:txBody>
      </p:sp>
      <p:sp>
        <p:nvSpPr>
          <p:cNvPr id="312" name="Google Shape;312;p42"/>
          <p:cNvSpPr/>
          <p:nvPr/>
        </p:nvSpPr>
        <p:spPr>
          <a:xfrm>
            <a:off x="2924919" y="1317278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Choice</a:t>
            </a:r>
            <a:endParaRPr b="0" i="0" sz="1100" u="none" cap="none" strike="noStrike"/>
          </a:p>
        </p:txBody>
      </p:sp>
      <p:sp>
        <p:nvSpPr>
          <p:cNvPr id="313" name="Google Shape;313;p42"/>
          <p:cNvSpPr/>
          <p:nvPr/>
        </p:nvSpPr>
        <p:spPr>
          <a:xfrm>
            <a:off x="5856089" y="1317278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Rationale</a:t>
            </a:r>
            <a:endParaRPr b="0" i="0" sz="1100" u="none" cap="none" strike="noStrike"/>
          </a:p>
        </p:txBody>
      </p:sp>
      <p:sp>
        <p:nvSpPr>
          <p:cNvPr id="314" name="Google Shape;314;p42"/>
          <p:cNvSpPr/>
          <p:nvPr/>
        </p:nvSpPr>
        <p:spPr>
          <a:xfrm>
            <a:off x="500881" y="1633910"/>
            <a:ext cx="8142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/>
          <p:nvPr/>
        </p:nvSpPr>
        <p:spPr>
          <a:xfrm>
            <a:off x="642714" y="1723727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100" u="none" cap="none" strike="noStrike"/>
          </a:p>
        </p:txBody>
      </p:sp>
      <p:sp>
        <p:nvSpPr>
          <p:cNvPr id="316" name="Google Shape;316;p42"/>
          <p:cNvSpPr/>
          <p:nvPr/>
        </p:nvSpPr>
        <p:spPr>
          <a:xfrm>
            <a:off x="2924919" y="1723727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Monolith</a:t>
            </a:r>
            <a:endParaRPr b="0" i="0" sz="1100" u="none" cap="none" strike="noStrike"/>
          </a:p>
        </p:txBody>
      </p:sp>
      <p:sp>
        <p:nvSpPr>
          <p:cNvPr id="317" name="Google Shape;317;p42"/>
          <p:cNvSpPr/>
          <p:nvPr/>
        </p:nvSpPr>
        <p:spPr>
          <a:xfrm>
            <a:off x="5856089" y="1723727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Faster delivery, shared database</a:t>
            </a:r>
            <a:endParaRPr b="0" i="0" sz="1100" u="none" cap="none" strike="noStrike"/>
          </a:p>
        </p:txBody>
      </p:sp>
      <p:sp>
        <p:nvSpPr>
          <p:cNvPr id="318" name="Google Shape;318;p42"/>
          <p:cNvSpPr/>
          <p:nvPr/>
        </p:nvSpPr>
        <p:spPr>
          <a:xfrm>
            <a:off x="500881" y="2040359"/>
            <a:ext cx="8142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>
            <a:off x="642714" y="2130177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b="0" i="0" sz="1100" u="none" cap="none" strike="noStrike"/>
          </a:p>
        </p:txBody>
      </p:sp>
      <p:sp>
        <p:nvSpPr>
          <p:cNvPr id="320" name="Google Shape;320;p42"/>
          <p:cNvSpPr/>
          <p:nvPr/>
        </p:nvSpPr>
        <p:spPr>
          <a:xfrm>
            <a:off x="2924919" y="2130177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WebSocket + Polling</a:t>
            </a:r>
            <a:endParaRPr b="0" i="0" sz="1100" u="none" cap="none" strike="noStrike"/>
          </a:p>
        </p:txBody>
      </p:sp>
      <p:sp>
        <p:nvSpPr>
          <p:cNvPr id="321" name="Google Shape;321;p42"/>
          <p:cNvSpPr/>
          <p:nvPr/>
        </p:nvSpPr>
        <p:spPr>
          <a:xfrm>
            <a:off x="5856089" y="2130177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Real-time with reliability fallback</a:t>
            </a:r>
            <a:endParaRPr b="0" i="0" sz="1100" u="none" cap="none" strike="noStrike"/>
          </a:p>
        </p:txBody>
      </p:sp>
      <p:sp>
        <p:nvSpPr>
          <p:cNvPr id="322" name="Google Shape;322;p42"/>
          <p:cNvSpPr/>
          <p:nvPr/>
        </p:nvSpPr>
        <p:spPr>
          <a:xfrm>
            <a:off x="500881" y="2446809"/>
            <a:ext cx="8142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>
            <a:off x="642714" y="2536627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/>
          </a:p>
        </p:txBody>
      </p:sp>
      <p:sp>
        <p:nvSpPr>
          <p:cNvPr id="324" name="Google Shape;324;p42"/>
          <p:cNvSpPr/>
          <p:nvPr/>
        </p:nvSpPr>
        <p:spPr>
          <a:xfrm>
            <a:off x="2924919" y="2536627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 b="0" i="0" sz="1100" u="none" cap="none" strike="noStrike"/>
          </a:p>
        </p:txBody>
      </p:sp>
      <p:sp>
        <p:nvSpPr>
          <p:cNvPr id="325" name="Google Shape;325;p42"/>
          <p:cNvSpPr/>
          <p:nvPr/>
        </p:nvSpPr>
        <p:spPr>
          <a:xfrm>
            <a:off x="5856089" y="2536627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Rapid development, rich ecosystem</a:t>
            </a:r>
            <a:endParaRPr b="0" i="0" sz="1100" u="none" cap="none" strike="noStrike"/>
          </a:p>
        </p:txBody>
      </p:sp>
      <p:sp>
        <p:nvSpPr>
          <p:cNvPr id="326" name="Google Shape;326;p42"/>
          <p:cNvSpPr/>
          <p:nvPr/>
        </p:nvSpPr>
        <p:spPr>
          <a:xfrm>
            <a:off x="500881" y="2853258"/>
            <a:ext cx="8142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>
            <a:off x="642714" y="2943076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Driver Portal</a:t>
            </a:r>
            <a:endParaRPr b="0" i="0" sz="1100" u="none" cap="none" strike="noStrike"/>
          </a:p>
        </p:txBody>
      </p:sp>
      <p:sp>
        <p:nvSpPr>
          <p:cNvPr id="328" name="Google Shape;328;p42"/>
          <p:cNvSpPr/>
          <p:nvPr/>
        </p:nvSpPr>
        <p:spPr>
          <a:xfrm>
            <a:off x="2924919" y="2943076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Same Codebase</a:t>
            </a:r>
            <a:endParaRPr b="0" i="0" sz="1100" u="none" cap="none" strike="noStrike"/>
          </a:p>
        </p:txBody>
      </p:sp>
      <p:sp>
        <p:nvSpPr>
          <p:cNvPr id="329" name="Google Shape;329;p42"/>
          <p:cNvSpPr/>
          <p:nvPr/>
        </p:nvSpPr>
        <p:spPr>
          <a:xfrm>
            <a:off x="5856089" y="2943076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Lower maintenance overhead</a:t>
            </a:r>
            <a:endParaRPr b="0" i="0" sz="1100" u="none" cap="none" strike="noStrike"/>
          </a:p>
        </p:txBody>
      </p:sp>
      <p:sp>
        <p:nvSpPr>
          <p:cNvPr id="330" name="Google Shape;330;p42"/>
          <p:cNvSpPr/>
          <p:nvPr/>
        </p:nvSpPr>
        <p:spPr>
          <a:xfrm>
            <a:off x="500881" y="3259708"/>
            <a:ext cx="8142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/>
          <p:nvPr/>
        </p:nvSpPr>
        <p:spPr>
          <a:xfrm>
            <a:off x="642714" y="3349526"/>
            <a:ext cx="245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Incident Workflow</a:t>
            </a:r>
            <a:endParaRPr b="0" i="0" sz="1100" u="none" cap="none" strike="noStrike"/>
          </a:p>
        </p:txBody>
      </p:sp>
      <p:sp>
        <p:nvSpPr>
          <p:cNvPr id="332" name="Google Shape;332;p42"/>
          <p:cNvSpPr/>
          <p:nvPr/>
        </p:nvSpPr>
        <p:spPr>
          <a:xfrm>
            <a:off x="2924919" y="3349526"/>
            <a:ext cx="310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State Machine</a:t>
            </a:r>
            <a:endParaRPr b="0" i="0" sz="1100" u="none" cap="none" strike="noStrike"/>
          </a:p>
        </p:txBody>
      </p:sp>
      <p:sp>
        <p:nvSpPr>
          <p:cNvPr id="333" name="Google Shape;333;p42"/>
          <p:cNvSpPr/>
          <p:nvPr/>
        </p:nvSpPr>
        <p:spPr>
          <a:xfrm>
            <a:off x="5856089" y="3349526"/>
            <a:ext cx="310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Full auditability and data integrity</a:t>
            </a:r>
            <a:endParaRPr b="0" i="0" sz="1100" u="none" cap="none" strike="noStrike"/>
          </a:p>
        </p:txBody>
      </p:sp>
      <p:sp>
        <p:nvSpPr>
          <p:cNvPr id="334" name="Google Shape;334;p42"/>
          <p:cNvSpPr/>
          <p:nvPr/>
        </p:nvSpPr>
        <p:spPr>
          <a:xfrm>
            <a:off x="496119" y="3830389"/>
            <a:ext cx="8151900" cy="816900"/>
          </a:xfrm>
          <a:prstGeom prst="roundRect">
            <a:avLst>
              <a:gd fmla="val 2603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2"/>
          <p:cNvSpPr/>
          <p:nvPr/>
        </p:nvSpPr>
        <p:spPr>
          <a:xfrm>
            <a:off x="496119" y="3830389"/>
            <a:ext cx="2717100" cy="816900"/>
          </a:xfrm>
          <a:prstGeom prst="roundRect">
            <a:avLst>
              <a:gd fmla="val 2603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2"/>
          <p:cNvSpPr/>
          <p:nvPr/>
        </p:nvSpPr>
        <p:spPr>
          <a:xfrm>
            <a:off x="637877" y="3972148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Composite Indexes</a:t>
            </a:r>
            <a:endParaRPr b="0" i="0" sz="1350" u="none" cap="none" strike="noStrike"/>
          </a:p>
        </p:txBody>
      </p:sp>
      <p:sp>
        <p:nvSpPr>
          <p:cNvPr id="337" name="Google Shape;337;p42"/>
          <p:cNvSpPr/>
          <p:nvPr/>
        </p:nvSpPr>
        <p:spPr>
          <a:xfrm>
            <a:off x="637877" y="4278660"/>
            <a:ext cx="2433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Optimized GPS tracking queries</a:t>
            </a:r>
            <a:endParaRPr b="0" i="0" sz="1100" u="none" cap="none" strike="noStrike"/>
          </a:p>
        </p:txBody>
      </p:sp>
      <p:sp>
        <p:nvSpPr>
          <p:cNvPr id="338" name="Google Shape;338;p42"/>
          <p:cNvSpPr/>
          <p:nvPr/>
        </p:nvSpPr>
        <p:spPr>
          <a:xfrm>
            <a:off x="3213348" y="3830389"/>
            <a:ext cx="2717100" cy="816900"/>
          </a:xfrm>
          <a:prstGeom prst="rect">
            <a:avLst/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2"/>
          <p:cNvSpPr/>
          <p:nvPr/>
        </p:nvSpPr>
        <p:spPr>
          <a:xfrm>
            <a:off x="3213348" y="3830389"/>
            <a:ext cx="19200" cy="816900"/>
          </a:xfrm>
          <a:prstGeom prst="roundRect">
            <a:avLst>
              <a:gd fmla="val 111628" name="adj"/>
            </a:avLst>
          </a:prstGeom>
          <a:solidFill>
            <a:srgbClr val="786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2"/>
          <p:cNvSpPr/>
          <p:nvPr/>
        </p:nvSpPr>
        <p:spPr>
          <a:xfrm>
            <a:off x="3355107" y="3972148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PostGIS Spatial</a:t>
            </a:r>
            <a:endParaRPr b="0" i="0" sz="1350" u="none" cap="none" strike="noStrike"/>
          </a:p>
        </p:txBody>
      </p:sp>
      <p:sp>
        <p:nvSpPr>
          <p:cNvPr id="341" name="Google Shape;341;p42"/>
          <p:cNvSpPr/>
          <p:nvPr/>
        </p:nvSpPr>
        <p:spPr>
          <a:xfrm>
            <a:off x="3355107" y="4278660"/>
            <a:ext cx="2433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Native geographic data support</a:t>
            </a:r>
            <a:endParaRPr b="0" i="0" sz="1100" u="none" cap="none" strike="noStrike"/>
          </a:p>
        </p:txBody>
      </p:sp>
      <p:sp>
        <p:nvSpPr>
          <p:cNvPr id="342" name="Google Shape;342;p42"/>
          <p:cNvSpPr/>
          <p:nvPr/>
        </p:nvSpPr>
        <p:spPr>
          <a:xfrm>
            <a:off x="5930578" y="3830389"/>
            <a:ext cx="2717100" cy="816900"/>
          </a:xfrm>
          <a:prstGeom prst="rect">
            <a:avLst/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2"/>
          <p:cNvSpPr/>
          <p:nvPr/>
        </p:nvSpPr>
        <p:spPr>
          <a:xfrm>
            <a:off x="5930578" y="3830389"/>
            <a:ext cx="19200" cy="816900"/>
          </a:xfrm>
          <a:prstGeom prst="roundRect">
            <a:avLst>
              <a:gd fmla="val 111628" name="adj"/>
            </a:avLst>
          </a:prstGeom>
          <a:solidFill>
            <a:srgbClr val="786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/>
          <p:nvPr/>
        </p:nvSpPr>
        <p:spPr>
          <a:xfrm>
            <a:off x="6072336" y="3972148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Shared Frontend</a:t>
            </a:r>
            <a:endParaRPr b="0" i="0" sz="1350" u="none" cap="none" strike="noStrike"/>
          </a:p>
        </p:txBody>
      </p:sp>
      <p:sp>
        <p:nvSpPr>
          <p:cNvPr id="345" name="Google Shape;345;p42"/>
          <p:cNvSpPr/>
          <p:nvPr/>
        </p:nvSpPr>
        <p:spPr>
          <a:xfrm>
            <a:off x="6072336" y="4278660"/>
            <a:ext cx="2433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Single codebase for web and PWA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/>
          <p:cNvSpPr/>
          <p:nvPr/>
        </p:nvSpPr>
        <p:spPr>
          <a:xfrm>
            <a:off x="426393" y="386209"/>
            <a:ext cx="52299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350"/>
              <a:buFont typeface="Arial"/>
              <a:buNone/>
            </a:pPr>
            <a:r>
              <a:rPr b="1" i="0" lang="en-US" sz="23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Limitations &amp; Future Roadmap</a:t>
            </a:r>
            <a:endParaRPr b="0" i="0" sz="2350" u="none" cap="none" strike="noStrike"/>
          </a:p>
        </p:txBody>
      </p:sp>
      <p:sp>
        <p:nvSpPr>
          <p:cNvPr id="354" name="Google Shape;354;p43"/>
          <p:cNvSpPr/>
          <p:nvPr/>
        </p:nvSpPr>
        <p:spPr>
          <a:xfrm>
            <a:off x="338658" y="923925"/>
            <a:ext cx="4172400" cy="3063000"/>
          </a:xfrm>
          <a:prstGeom prst="roundRect">
            <a:avLst>
              <a:gd fmla="val 597" name="adj"/>
            </a:avLst>
          </a:prstGeom>
          <a:solidFill>
            <a:srgbClr val="5F5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"/>
          <p:cNvSpPr/>
          <p:nvPr/>
        </p:nvSpPr>
        <p:spPr>
          <a:xfrm>
            <a:off x="460474" y="1028551"/>
            <a:ext cx="199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 b="0" i="0" sz="1150" u="none" cap="none" strike="noStrike"/>
          </a:p>
        </p:txBody>
      </p:sp>
      <p:sp>
        <p:nvSpPr>
          <p:cNvPr id="356" name="Google Shape;356;p43"/>
          <p:cNvSpPr/>
          <p:nvPr/>
        </p:nvSpPr>
        <p:spPr>
          <a:xfrm>
            <a:off x="460474" y="1323529"/>
            <a:ext cx="392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 data is simulated — no live vehicle integration</a:t>
            </a:r>
            <a:endParaRPr b="0" i="0" sz="950" u="none" cap="none" strike="noStrike"/>
          </a:p>
          <a:p>
            <a:pPr indent="-342900" lvl="0" marL="34290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integrated but not actively used in production</a:t>
            </a:r>
            <a:endParaRPr b="0" i="0" sz="950" u="none" cap="none" strike="noStrike"/>
          </a:p>
          <a:p>
            <a:pPr indent="-342900" lvl="0" marL="34290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 in tests, PostgreSQL in production — environment mismatch</a:t>
            </a:r>
            <a:endParaRPr b="0" i="0" sz="950" u="none" cap="none" strike="noStrike"/>
          </a:p>
          <a:p>
            <a:pPr indent="-342900" lvl="0" marL="34290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incident image upload support</a:t>
            </a:r>
            <a:endParaRPr b="0" i="0" sz="950" u="none" cap="none" strike="noStrike"/>
          </a:p>
        </p:txBody>
      </p:sp>
      <p:sp>
        <p:nvSpPr>
          <p:cNvPr id="357" name="Google Shape;357;p43"/>
          <p:cNvSpPr/>
          <p:nvPr/>
        </p:nvSpPr>
        <p:spPr>
          <a:xfrm>
            <a:off x="4725367" y="1028551"/>
            <a:ext cx="217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8F5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b="0" i="0" sz="1150" u="none" cap="none" strike="noStrike"/>
          </a:p>
        </p:txBody>
      </p:sp>
      <p:pic>
        <p:nvPicPr>
          <p:cNvPr descr="preencoded.png" id="358" name="Google Shape;35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058" y="1340458"/>
            <a:ext cx="182687" cy="18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3"/>
          <p:cNvSpPr/>
          <p:nvPr/>
        </p:nvSpPr>
        <p:spPr>
          <a:xfrm>
            <a:off x="5121250" y="1336625"/>
            <a:ext cx="1605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Real GPS Integration</a:t>
            </a:r>
            <a:endParaRPr b="0" i="0" sz="1150" u="none" cap="none" strike="noStrike"/>
          </a:p>
        </p:txBody>
      </p:sp>
      <p:sp>
        <p:nvSpPr>
          <p:cNvPr id="360" name="Google Shape;360;p43"/>
          <p:cNvSpPr/>
          <p:nvPr/>
        </p:nvSpPr>
        <p:spPr>
          <a:xfrm>
            <a:off x="5121250" y="1631603"/>
            <a:ext cx="36012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MQTT/TCP ingestion from live vehicle hardware</a:t>
            </a:r>
            <a:endParaRPr b="0" i="0" sz="950" u="none" cap="none" strike="noStrike"/>
          </a:p>
        </p:txBody>
      </p:sp>
      <p:pic>
        <p:nvPicPr>
          <p:cNvPr descr="preencoded.png" id="361" name="Google Shape;3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058" y="2025960"/>
            <a:ext cx="182687" cy="18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3"/>
          <p:cNvSpPr/>
          <p:nvPr/>
        </p:nvSpPr>
        <p:spPr>
          <a:xfrm>
            <a:off x="5121250" y="2022128"/>
            <a:ext cx="170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Token Refresh + Redis</a:t>
            </a:r>
            <a:endParaRPr b="0" i="0" sz="1150" u="none" cap="none" strike="noStrike"/>
          </a:p>
        </p:txBody>
      </p:sp>
      <p:sp>
        <p:nvSpPr>
          <p:cNvPr id="363" name="Google Shape;363;p43"/>
          <p:cNvSpPr/>
          <p:nvPr/>
        </p:nvSpPr>
        <p:spPr>
          <a:xfrm>
            <a:off x="5121250" y="2317105"/>
            <a:ext cx="36012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JWT blacklist for secure session management</a:t>
            </a:r>
            <a:endParaRPr b="0" i="0" sz="950" u="none" cap="none" strike="noStrike"/>
          </a:p>
        </p:txBody>
      </p:sp>
      <p:pic>
        <p:nvPicPr>
          <p:cNvPr descr="preencoded.png" id="364" name="Google Shape;3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058" y="2711462"/>
            <a:ext cx="182687" cy="18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3"/>
          <p:cNvSpPr/>
          <p:nvPr/>
        </p:nvSpPr>
        <p:spPr>
          <a:xfrm>
            <a:off x="5121250" y="2707630"/>
            <a:ext cx="152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S3 Photo Uploads</a:t>
            </a:r>
            <a:endParaRPr b="0" i="0" sz="1150" u="none" cap="none" strike="noStrike"/>
          </a:p>
        </p:txBody>
      </p:sp>
      <p:sp>
        <p:nvSpPr>
          <p:cNvPr id="366" name="Google Shape;366;p43"/>
          <p:cNvSpPr/>
          <p:nvPr/>
        </p:nvSpPr>
        <p:spPr>
          <a:xfrm>
            <a:off x="5121250" y="3002607"/>
            <a:ext cx="36012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Incident evidence capture and storage</a:t>
            </a:r>
            <a:endParaRPr b="0" i="0" sz="950" u="none" cap="none" strike="noStrike"/>
          </a:p>
        </p:txBody>
      </p:sp>
      <p:pic>
        <p:nvPicPr>
          <p:cNvPr descr="preencoded.png" id="367" name="Google Shape;3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058" y="3396965"/>
            <a:ext cx="182687" cy="18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3"/>
          <p:cNvSpPr/>
          <p:nvPr/>
        </p:nvSpPr>
        <p:spPr>
          <a:xfrm>
            <a:off x="5121250" y="3393132"/>
            <a:ext cx="1835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AWS Cloud Deployment</a:t>
            </a:r>
            <a:endParaRPr b="0" i="0" sz="1150" u="none" cap="none" strike="noStrike"/>
          </a:p>
        </p:txBody>
      </p:sp>
      <p:sp>
        <p:nvSpPr>
          <p:cNvPr id="369" name="Google Shape;369;p43"/>
          <p:cNvSpPr/>
          <p:nvPr/>
        </p:nvSpPr>
        <p:spPr>
          <a:xfrm>
            <a:off x="5121250" y="3688110"/>
            <a:ext cx="36012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3C9C5"/>
                </a:solidFill>
                <a:latin typeface="Arial"/>
                <a:ea typeface="Arial"/>
                <a:cs typeface="Arial"/>
                <a:sym typeface="Arial"/>
              </a:rPr>
              <a:t>ECS + RDS + CloudFront for production scale</a:t>
            </a:r>
            <a:endParaRPr b="0" i="0" sz="950" u="none" cap="none" strike="noStrike"/>
          </a:p>
        </p:txBody>
      </p:sp>
      <p:sp>
        <p:nvSpPr>
          <p:cNvPr id="370" name="Google Shape;370;p43"/>
          <p:cNvSpPr/>
          <p:nvPr/>
        </p:nvSpPr>
        <p:spPr>
          <a:xfrm>
            <a:off x="426393" y="4104754"/>
            <a:ext cx="8291100" cy="652500"/>
          </a:xfrm>
          <a:prstGeom prst="roundRect">
            <a:avLst>
              <a:gd fmla="val 2801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08" y="4293245"/>
            <a:ext cx="152251" cy="12181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3"/>
          <p:cNvSpPr/>
          <p:nvPr/>
        </p:nvSpPr>
        <p:spPr>
          <a:xfrm>
            <a:off x="822275" y="4239816"/>
            <a:ext cx="7773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 scalable, secure, and modular fleet management platform — covering tracking, scheduling, incident response, and communication for NCRTC operations.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